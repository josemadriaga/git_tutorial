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1226" r:id="rId2"/>
    <p:sldId id="266" r:id="rId3"/>
    <p:sldId id="1219" r:id="rId4"/>
    <p:sldId id="1220" r:id="rId5"/>
    <p:sldId id="259" r:id="rId6"/>
    <p:sldId id="260" r:id="rId7"/>
    <p:sldId id="1221" r:id="rId8"/>
    <p:sldId id="1222" r:id="rId9"/>
    <p:sldId id="1223" r:id="rId10"/>
    <p:sldId id="1225" r:id="rId11"/>
    <p:sldId id="1228" r:id="rId12"/>
    <p:sldId id="1217" r:id="rId13"/>
    <p:sldId id="263" r:id="rId14"/>
    <p:sldId id="264" r:id="rId15"/>
    <p:sldId id="265" r:id="rId16"/>
    <p:sldId id="267" r:id="rId17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6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/>
    <p:restoredTop sz="94658"/>
  </p:normalViewPr>
  <p:slideViewPr>
    <p:cSldViewPr snapToGrid="0" showGuides="1">
      <p:cViewPr>
        <p:scale>
          <a:sx n="79" d="100"/>
          <a:sy n="79" d="100"/>
        </p:scale>
        <p:origin x="1656" y="1376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F17AD7-3218-B8B4-6604-E07F18B5AEC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FDB09-125C-C0F7-5AAF-BA1013DD8CB8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783F83-ABB6-55B3-9E89-AD415308F3E6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E09EE-3D2B-1D0D-4EBA-F5F6547F9360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EB2743B4-9539-F946-B700-7C65720C925D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7154694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5FE63-A4FF-D056-712D-9C39DA8A4E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D604E-C0B9-834C-4DF3-020019E444D3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33A10FC-3049-0758-E3CA-C083FE5C501E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03A05-4B84-F588-A722-1223B13669BA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F468C-CE71-C922-1E7D-3D889DD63E7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556A5-AB25-761C-73A7-BF3E9AEC73C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408E53EC-BE90-3F4E-9092-F4F676ACAED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1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oto Sans Devanagar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C79E5-890B-F933-463B-517761D1FE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5706309-57C7-9748-8B0F-C273669F8EF9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3AC82-FFEF-3156-B8FA-2DEE612708E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1991A-ECE3-73BF-074A-1FEB2446320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F7BC7-C5DE-5264-FD5D-248B652A43A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DDBA234-6A0A-8C4A-BD55-BC4B6C485FFF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E7894-584B-4D9A-9428-CE988F8CB5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643A3-15A3-EA29-EB6E-9572233F80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95C1-A372-31A0-4A88-3199CB825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7ED8D-972F-119E-1CF4-F81746818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26ED3-D7F8-D5A8-361B-F562F9E0C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1DB37-CA50-BFD8-A3E8-F78555964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32DF4-5913-F346-8EE0-4E5150F6429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82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E0F22-AE3E-99AF-DBA9-9FED1838219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56134F-0963-B649-9C37-106498C5307B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6D50E-496F-4183-7AFE-C5CE6F13CCF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5E7B2-6C94-2121-19B3-87400D384EC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66108-7DE9-8DAF-DFE9-3FE59F1EECE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F28B245-B9C8-FA45-AC67-32775675B85F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35BA6-76EE-C67C-2742-31EF4C11CE9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DB8AC-EFA1-E3C8-ADA3-5F7CEBC1CDE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A61A9-2770-34BE-F1CB-DE12A983BC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38A60AC-42AD-2F43-8AF8-0F58D8B67FB0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31F0D7-DD6E-D3D1-7968-D20EF19B18A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D08A0-1D38-0E5D-A379-03989E6D5C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D21E3-4875-0491-E442-18FF5B3BB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D39E3-3CF9-7D14-3AE3-C54853D0B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4ACC5-AEB1-DE3F-1F0A-307F6A93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3A34A-18B2-56B1-1487-25CA200D1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A547D-4FCD-495B-F3AE-32B3C18D5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4560B51-FE17-6E40-8BBF-C70AB0CA3C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8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6172-8902-0738-8572-6632692D2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993A9-1ABE-576A-AB58-93D785EE6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B7540-38DB-F10E-F6E7-EA1799AE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85EB5-2EA1-82C3-7087-3033A35E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1DA45-8843-B81F-FC6A-BCD36C15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577567-C41D-2D4C-A1D6-436EBEC0783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04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2E9C-ADC0-B04E-5369-E8F395B7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52F9E-911D-FB7D-EB2C-0246F6B97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C0BE9-C5AC-918C-EDC6-DDF77B214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F9834-D2A5-A8C0-7F28-6AFE4395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C7852-5843-5532-A6F5-A9378F15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326920-80D7-D54B-9678-9060DBBFE0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1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460FE-57D8-324D-5C3F-3A8ED1951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6858D-D11E-F7A7-26AA-5440F56FE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71289-23F0-3411-391D-78476568F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9A369-F9AE-8385-21B9-45BCEA8BA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ACDE5-3E9C-08DC-B5D9-29D30DBD9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CAF1D-CA4D-46E4-6482-41E7142EB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EC6E40-5DBE-7C40-8B72-853A416E82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D247D-645C-933D-46B9-84FC5DC5F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FBB3F-0484-2B30-45A7-E9DD8F4D6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4B35F-98E1-F335-2D3A-41B988B3A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3E3D6E-C458-8C5E-FCAF-D773154A5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83B98-84D1-BF10-7306-F238CE743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18062-3C7F-B4EA-8720-D3E6E0B69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BA9BF-834D-19FF-5347-68BECACB3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3A3A43-B52E-D3C1-38E4-2C70A8169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5279720-FF91-CC45-BB20-67CB091832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93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C7A5B-36C0-D2C1-56F9-FC45729CB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4F56F3-8B4F-E02C-5E9F-B0374C81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076C8-CB9C-10F8-C1F8-C7B8F711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D5378-A37B-741B-D83E-E7D218C96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09EE392-C2A3-A543-9E83-85CE236DCCA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46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AD69D-A433-C1B5-6EE3-1E2F3D136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C787F-0800-E9BC-CFBC-9561B777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52ECC-3A4D-63C5-7AE4-0B492ED90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E3F45C8-A582-0B44-AE7A-74C798B2D80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951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4327-F645-0B3B-63F8-B8E37CC6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EC24D-D6E9-0CDF-01C3-F54C5B866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8F41F-4A5B-E73D-EDF0-09AB14277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5D7C8-91EE-E430-7E23-69B7DB998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AFA04-ED9E-F88B-5591-4A9F6A034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30DCB-92E3-2DF9-686D-0C4087964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291AD3A-E317-3D42-9BF9-E84BD713CF8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44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7B0B-B3EC-2235-D006-9402BC2B5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739F2D-9551-54C8-029C-9E0DB24A85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CA6FB-CB75-C9E4-9466-79D2598EE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1D53E-5543-D94C-7F89-EDD4FD74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01F6A-4F3F-8167-40E6-A254B5E1F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9C173-9077-4986-8997-E99AE9BD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3D7232D-0CD1-584F-A469-FE0DFFB3C2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7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6CCE8-F64C-4FD1-5B01-07425DBEB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0CC6A9-8332-CD76-4954-008C2C103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DCA70-65F0-29F4-E0EA-B9B4E01F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C3110-F43A-271C-46CC-5F43BD907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6DEEE-B031-3E69-E182-699CD6269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8C5ABD5-1707-5B4C-8EE0-9C043E5707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565EF7-5F66-77DA-B345-239338E3D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4873ED-2E7A-4170-1463-AFC9A1503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990A1-7396-2E68-6EDB-2FEAC754A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FF772-5ECB-B812-EEED-5F30C02D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B9B87-CC1A-33CA-F364-0FAD2391E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1EFDD17-EF9E-9547-A726-70E2A26D86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26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15053D-006C-E8C5-8B5D-D392449E65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AB052-BA47-C166-D868-F1FC79942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8D982-1A01-F201-3487-12A2E888B23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8FBE8-5E54-701F-305E-BB5B6D29C8B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B6CFF-C47C-6343-ED62-63D2861AEB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2C0AC2F7-A474-D24F-846C-A15AD1455968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oto Sans Devanagari" pitchFamily="2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oto Sans Devanagari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13" Type="http://schemas.openxmlformats.org/officeDocument/2006/relationships/image" Target="../media/image33.jpg"/><Relationship Id="rId3" Type="http://schemas.openxmlformats.org/officeDocument/2006/relationships/image" Target="../media/image23.jp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image" Target="../media/image31.jpe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jp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433DB8-FBF2-0F54-10B4-5150F32CBCA0}"/>
              </a:ext>
            </a:extLst>
          </p:cNvPr>
          <p:cNvSpPr txBox="1"/>
          <p:nvPr/>
        </p:nvSpPr>
        <p:spPr>
          <a:xfrm>
            <a:off x="292875" y="906998"/>
            <a:ext cx="9494875" cy="132343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Gotta Get Git: A Hands-On Git </a:t>
            </a:r>
          </a:p>
          <a:p>
            <a:pPr algn="ctr"/>
            <a:r>
              <a:rPr lang="en-US" sz="4000" dirty="0"/>
              <a:t>&amp; GitHub Tutorial</a:t>
            </a:r>
            <a:endParaRPr lang="en-US" sz="40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6BF93-5DDD-7604-4078-84DE354F0A7F}"/>
              </a:ext>
            </a:extLst>
          </p:cNvPr>
          <p:cNvSpPr txBox="1"/>
          <p:nvPr/>
        </p:nvSpPr>
        <p:spPr>
          <a:xfrm>
            <a:off x="1451758" y="2847578"/>
            <a:ext cx="70057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Jose P. Madriaga</a:t>
            </a:r>
          </a:p>
          <a:p>
            <a:pPr algn="ctr"/>
            <a:r>
              <a:rPr lang="en-US" sz="2400" dirty="0"/>
              <a:t>Dr. Andr</a:t>
            </a:r>
            <a:r>
              <a:rPr lang="en-US" sz="2400" dirty="0">
                <a:cs typeface="Arial" panose="020B0604020202020204" pitchFamily="34" charset="0"/>
              </a:rPr>
              <a:t>é</a:t>
            </a:r>
            <a:r>
              <a:rPr lang="en-US" sz="2400" dirty="0"/>
              <a:t>s Cisneros </a:t>
            </a:r>
          </a:p>
          <a:p>
            <a:pPr algn="ctr"/>
            <a:r>
              <a:rPr lang="en-US" sz="2400" dirty="0">
                <a:cs typeface="Calibri" panose="020F0502020204030204"/>
              </a:rPr>
              <a:t>Department of Physics, University of Texas at Dallas</a:t>
            </a:r>
          </a:p>
          <a:p>
            <a:pPr algn="ctr"/>
            <a:r>
              <a:rPr lang="en-US" sz="2400" dirty="0"/>
              <a:t>October 12</a:t>
            </a:r>
            <a:r>
              <a:rPr lang="en-US" sz="2400" baseline="30000" dirty="0"/>
              <a:t>th</a:t>
            </a:r>
            <a:r>
              <a:rPr lang="en-US" sz="2400" dirty="0"/>
              <a:t>, 2026</a:t>
            </a:r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BA8308DA-2328-B053-5ECD-81554E74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5922" y="5034379"/>
            <a:ext cx="2743200" cy="365125"/>
          </a:xfrm>
        </p:spPr>
        <p:txBody>
          <a:bodyPr/>
          <a:lstStyle/>
          <a:p>
            <a:fld id="{5AF31890-163A-0243-A435-6DFC7960F33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523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B70FAC-3952-34BA-187D-84A6C6477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12" y="376555"/>
            <a:ext cx="7772400" cy="518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261C4F-3AA4-AA7E-F163-3C49AC131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330" y="538776"/>
            <a:ext cx="7772400" cy="5181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48EC7B-88B8-B76A-0145-667312FAB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292" y="415880"/>
            <a:ext cx="7772400" cy="518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E50125-C2AF-DBEE-C6EB-B020FB5F7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688" y="533256"/>
            <a:ext cx="7772400" cy="5181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728FE0-93A2-28CB-7C50-9BD49CFCC3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017" y="370694"/>
            <a:ext cx="7772400" cy="5181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DC44ED-E121-5877-1273-B1991BE152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5049" y="364833"/>
            <a:ext cx="7772400" cy="5181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13538F-72B8-AA6E-03DB-7B179A338C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58144">
            <a:off x="1436569" y="608955"/>
            <a:ext cx="5607168" cy="3738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BFAF54-BAF8-3048-CE47-B475A060F5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412" y="435366"/>
            <a:ext cx="7772400" cy="5181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68B4E0-3E36-3DF0-F3EC-0FF43A8B41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9992788">
            <a:off x="3233661" y="618994"/>
            <a:ext cx="5441633" cy="36277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9119AD-9A2B-2FF5-6F4F-377A7D1417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4127774">
            <a:off x="2323046" y="1240264"/>
            <a:ext cx="5620894" cy="37472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1CA2AB-D6B6-0114-F549-3DF4F09B5D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9973" y="490856"/>
            <a:ext cx="7772400" cy="518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2B3F3B-AD33-91FE-41C0-C8C46B798D3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7868" y="544296"/>
            <a:ext cx="7772400" cy="5181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DBCF2F-21A4-B7B6-BAEE-D16E1B437F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294333">
            <a:off x="2865237" y="217488"/>
            <a:ext cx="5620894" cy="37472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B1B1FF-1F4B-D01B-E7C4-EB07E4BA13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9107343">
            <a:off x="1229477" y="658666"/>
            <a:ext cx="5620894" cy="37472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94D68E-87B2-F8C5-6D5D-4AB36847FE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2365486">
            <a:off x="1503797" y="811066"/>
            <a:ext cx="5620894" cy="374726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250B199-17DE-EE59-85C9-A8090DEF5BE8}"/>
              </a:ext>
            </a:extLst>
          </p:cNvPr>
          <p:cNvSpPr txBox="1"/>
          <p:nvPr/>
        </p:nvSpPr>
        <p:spPr>
          <a:xfrm>
            <a:off x="0" y="-351"/>
            <a:ext cx="1008062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Git Workflow</a:t>
            </a:r>
          </a:p>
        </p:txBody>
      </p:sp>
      <p:sp>
        <p:nvSpPr>
          <p:cNvPr id="13" name="Slide Number Placeholder 15">
            <a:extLst>
              <a:ext uri="{FF2B5EF4-FFF2-40B4-BE49-F238E27FC236}">
                <a16:creationId xmlns:a16="http://schemas.microsoft.com/office/drawing/2014/main" id="{B492ECC3-8474-506D-E63C-ED388F73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5922" y="5034379"/>
            <a:ext cx="2743200" cy="365125"/>
          </a:xfrm>
        </p:spPr>
        <p:txBody>
          <a:bodyPr/>
          <a:lstStyle/>
          <a:p>
            <a:fld id="{5AF31890-163A-0243-A435-6DFC7960F33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25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431C74-A70F-9539-E47A-ED48FBC6E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28" y="821135"/>
            <a:ext cx="9391968" cy="43543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076CE4-BE34-AC50-C008-0D8CB0946CAC}"/>
              </a:ext>
            </a:extLst>
          </p:cNvPr>
          <p:cNvSpPr txBox="1"/>
          <p:nvPr/>
        </p:nvSpPr>
        <p:spPr>
          <a:xfrm>
            <a:off x="0" y="-351"/>
            <a:ext cx="1008062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(1) Git Setup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1B02A2-1D51-D1AA-8529-A9E8180523F8}"/>
              </a:ext>
            </a:extLst>
          </p:cNvPr>
          <p:cNvSpPr txBox="1"/>
          <p:nvPr/>
        </p:nvSpPr>
        <p:spPr>
          <a:xfrm>
            <a:off x="1950720" y="731520"/>
            <a:ext cx="1605280" cy="44439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FDB47-5310-987B-53D8-2AF30F375562}"/>
              </a:ext>
            </a:extLst>
          </p:cNvPr>
          <p:cNvSpPr txBox="1"/>
          <p:nvPr/>
        </p:nvSpPr>
        <p:spPr>
          <a:xfrm>
            <a:off x="3556000" y="821135"/>
            <a:ext cx="3454400" cy="44439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B2040-E4DB-A16B-41C2-9299337A03FA}"/>
              </a:ext>
            </a:extLst>
          </p:cNvPr>
          <p:cNvSpPr txBox="1"/>
          <p:nvPr/>
        </p:nvSpPr>
        <p:spPr>
          <a:xfrm>
            <a:off x="6949440" y="821135"/>
            <a:ext cx="2786856" cy="44439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Slide Number Placeholder 15">
            <a:extLst>
              <a:ext uri="{FF2B5EF4-FFF2-40B4-BE49-F238E27FC236}">
                <a16:creationId xmlns:a16="http://schemas.microsoft.com/office/drawing/2014/main" id="{F9EC4E4A-D5E7-2BEB-5A6C-C97C0F60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5922" y="5034379"/>
            <a:ext cx="2743200" cy="365125"/>
          </a:xfrm>
        </p:spPr>
        <p:txBody>
          <a:bodyPr/>
          <a:lstStyle/>
          <a:p>
            <a:fld id="{5AF31890-163A-0243-A435-6DFC7960F33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33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B2ED5F-0C6F-4FBF-4A4D-1BE9CB933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04" y="496483"/>
            <a:ext cx="9606555" cy="47978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475B62-AE80-BFBE-1F05-185DF79ACDC4}"/>
              </a:ext>
            </a:extLst>
          </p:cNvPr>
          <p:cNvSpPr txBox="1"/>
          <p:nvPr/>
        </p:nvSpPr>
        <p:spPr>
          <a:xfrm>
            <a:off x="2794000" y="325120"/>
            <a:ext cx="4572000" cy="6299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3794B-F8D7-8C0F-AE3A-6C2879E378C3}"/>
              </a:ext>
            </a:extLst>
          </p:cNvPr>
          <p:cNvSpPr txBox="1"/>
          <p:nvPr/>
        </p:nvSpPr>
        <p:spPr>
          <a:xfrm>
            <a:off x="0" y="-351"/>
            <a:ext cx="1008062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(1) SSH Key Setup</a:t>
            </a:r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95D137CF-6DA3-1AA0-0287-E746030A0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5922" y="5034379"/>
            <a:ext cx="2743200" cy="365125"/>
          </a:xfrm>
        </p:spPr>
        <p:txBody>
          <a:bodyPr/>
          <a:lstStyle/>
          <a:p>
            <a:fld id="{5AF31890-163A-0243-A435-6DFC7960F33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929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1AB919-4E15-1B34-5E6E-2CA5A6ECF59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130928" y="695914"/>
            <a:ext cx="2005413" cy="3742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A3E6C9-194A-8FBB-9959-17E06F44A9F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205473" y="1209040"/>
            <a:ext cx="5875152" cy="241368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4C07A6-1A2D-1417-A79A-0A6BFCDF6F9E}"/>
              </a:ext>
            </a:extLst>
          </p:cNvPr>
          <p:cNvSpPr txBox="1"/>
          <p:nvPr/>
        </p:nvSpPr>
        <p:spPr>
          <a:xfrm>
            <a:off x="1054070" y="4590188"/>
            <a:ext cx="2466720" cy="346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ssh -T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git@github.com</a:t>
            </a:r>
            <a:endParaRPr lang="en-US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9EE49B-1792-1681-F29F-6E879DF04A78}"/>
              </a:ext>
            </a:extLst>
          </p:cNvPr>
          <p:cNvSpPr txBox="1"/>
          <p:nvPr/>
        </p:nvSpPr>
        <p:spPr>
          <a:xfrm>
            <a:off x="4309760" y="4622845"/>
            <a:ext cx="5421600" cy="346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Hi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JoseMadriaga</a:t>
            </a: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! You've successfully authenticated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8DE21E-1224-616B-A7FC-D19155AD3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088" y="484489"/>
            <a:ext cx="1797965" cy="3953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2FCBD7-AF64-DFBD-A092-1C215D51E2A0}"/>
              </a:ext>
            </a:extLst>
          </p:cNvPr>
          <p:cNvSpPr txBox="1"/>
          <p:nvPr/>
        </p:nvSpPr>
        <p:spPr>
          <a:xfrm>
            <a:off x="6035040" y="1960880"/>
            <a:ext cx="197104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300942-2121-F7D8-9355-F1A62F0ECA35}"/>
              </a:ext>
            </a:extLst>
          </p:cNvPr>
          <p:cNvSpPr txBox="1"/>
          <p:nvPr/>
        </p:nvSpPr>
        <p:spPr>
          <a:xfrm>
            <a:off x="6035040" y="2487003"/>
            <a:ext cx="197104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65DE2-90BA-507B-38DD-B234ED528CB5}"/>
              </a:ext>
            </a:extLst>
          </p:cNvPr>
          <p:cNvSpPr txBox="1"/>
          <p:nvPr/>
        </p:nvSpPr>
        <p:spPr>
          <a:xfrm>
            <a:off x="6012625" y="3032563"/>
            <a:ext cx="197104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91D13D-3F3B-4516-970D-C1F741CF949D}"/>
              </a:ext>
            </a:extLst>
          </p:cNvPr>
          <p:cNvSpPr txBox="1"/>
          <p:nvPr/>
        </p:nvSpPr>
        <p:spPr>
          <a:xfrm>
            <a:off x="0" y="-351"/>
            <a:ext cx="1008062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(1) SSH Key Setup</a:t>
            </a:r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74E3C82-7E1D-0416-EFBA-E2EC2091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5922" y="5034379"/>
            <a:ext cx="2743200" cy="365125"/>
          </a:xfrm>
        </p:spPr>
        <p:txBody>
          <a:bodyPr/>
          <a:lstStyle/>
          <a:p>
            <a:fld id="{5AF31890-163A-0243-A435-6DFC7960F332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211E32-7204-174E-5297-BD04F0074A0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02558" y="1209300"/>
            <a:ext cx="7875508" cy="420601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6728A5-491A-002A-B789-16CB4CEE27C0}"/>
              </a:ext>
            </a:extLst>
          </p:cNvPr>
          <p:cNvSpPr txBox="1"/>
          <p:nvPr/>
        </p:nvSpPr>
        <p:spPr>
          <a:xfrm>
            <a:off x="2597120" y="671864"/>
            <a:ext cx="5226080" cy="346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https://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github.com</a:t>
            </a: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/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JoseMadriaga</a:t>
            </a: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/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Git_tutorial.git</a:t>
            </a:r>
            <a:endParaRPr lang="en-US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0F5C3F-74C5-4D96-1E61-E3149DAA1EC8}"/>
              </a:ext>
            </a:extLst>
          </p:cNvPr>
          <p:cNvSpPr txBox="1"/>
          <p:nvPr/>
        </p:nvSpPr>
        <p:spPr>
          <a:xfrm>
            <a:off x="0" y="-351"/>
            <a:ext cx="1008062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(2) Fork</a:t>
            </a:r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29DBCBF5-34A5-0203-50B5-80B01576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5922" y="5034379"/>
            <a:ext cx="2743200" cy="365125"/>
          </a:xfrm>
        </p:spPr>
        <p:txBody>
          <a:bodyPr/>
          <a:lstStyle/>
          <a:p>
            <a:fld id="{5AF31890-163A-0243-A435-6DFC7960F332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5C5A6C-AA95-D72E-CDB7-49875154F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3" y="-510656"/>
            <a:ext cx="11899106" cy="66896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E5447A-370B-4C1A-808E-21F075181856}"/>
              </a:ext>
            </a:extLst>
          </p:cNvPr>
          <p:cNvSpPr txBox="1"/>
          <p:nvPr/>
        </p:nvSpPr>
        <p:spPr>
          <a:xfrm>
            <a:off x="2266585" y="63492"/>
            <a:ext cx="7206961" cy="8940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19AD07-2BD2-80B7-9D5A-4FBA985CAFCE}"/>
              </a:ext>
            </a:extLst>
          </p:cNvPr>
          <p:cNvSpPr txBox="1"/>
          <p:nvPr/>
        </p:nvSpPr>
        <p:spPr>
          <a:xfrm>
            <a:off x="0" y="-351"/>
            <a:ext cx="1008062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(3) Configure Git and Clone Repository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4FC0A-5912-BF83-F6E2-C7482C32B51E}"/>
              </a:ext>
            </a:extLst>
          </p:cNvPr>
          <p:cNvSpPr txBox="1"/>
          <p:nvPr/>
        </p:nvSpPr>
        <p:spPr>
          <a:xfrm>
            <a:off x="9837863" y="847844"/>
            <a:ext cx="2122490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BF2937-1D3A-0830-5517-7DE3036A4958}"/>
              </a:ext>
            </a:extLst>
          </p:cNvPr>
          <p:cNvSpPr txBox="1"/>
          <p:nvPr/>
        </p:nvSpPr>
        <p:spPr>
          <a:xfrm>
            <a:off x="7666604" y="888344"/>
            <a:ext cx="2269875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A9D507-BFBD-C083-E752-B79265B6B7D5}"/>
              </a:ext>
            </a:extLst>
          </p:cNvPr>
          <p:cNvSpPr txBox="1"/>
          <p:nvPr/>
        </p:nvSpPr>
        <p:spPr>
          <a:xfrm>
            <a:off x="5743387" y="960823"/>
            <a:ext cx="1923218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D7ED02-6CF3-7C4A-F0AB-0C7FB7BBD9E7}"/>
              </a:ext>
            </a:extLst>
          </p:cNvPr>
          <p:cNvSpPr txBox="1"/>
          <p:nvPr/>
        </p:nvSpPr>
        <p:spPr>
          <a:xfrm>
            <a:off x="3851733" y="888344"/>
            <a:ext cx="1923218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4766E3-16E7-34A4-A0DB-DA57FFA51DFF}"/>
              </a:ext>
            </a:extLst>
          </p:cNvPr>
          <p:cNvSpPr txBox="1"/>
          <p:nvPr/>
        </p:nvSpPr>
        <p:spPr>
          <a:xfrm>
            <a:off x="1928516" y="960822"/>
            <a:ext cx="1923218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CED18E45-DF4B-83B7-80BE-F8DFE42D2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5922" y="5034379"/>
            <a:ext cx="2743200" cy="365125"/>
          </a:xfrm>
        </p:spPr>
        <p:txBody>
          <a:bodyPr/>
          <a:lstStyle/>
          <a:p>
            <a:fld id="{5AF31890-163A-0243-A435-6DFC7960F33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17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36CBB5-1824-FA47-3AC4-DEB138D72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35" y="461314"/>
            <a:ext cx="9563154" cy="47761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955C12-1A8F-8BEC-EFC0-37AEF621F3E6}"/>
              </a:ext>
            </a:extLst>
          </p:cNvPr>
          <p:cNvSpPr txBox="1"/>
          <p:nvPr/>
        </p:nvSpPr>
        <p:spPr>
          <a:xfrm>
            <a:off x="0" y="-351"/>
            <a:ext cx="1008062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(4-5) Work on New Branch and Push Changes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B19B6-9606-2661-16AE-7770C2945646}"/>
              </a:ext>
            </a:extLst>
          </p:cNvPr>
          <p:cNvSpPr txBox="1"/>
          <p:nvPr/>
        </p:nvSpPr>
        <p:spPr>
          <a:xfrm>
            <a:off x="2438400" y="461314"/>
            <a:ext cx="5132832" cy="4896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6FF77C-24A1-8138-11F6-160E5325A2C0}"/>
              </a:ext>
            </a:extLst>
          </p:cNvPr>
          <p:cNvSpPr txBox="1"/>
          <p:nvPr/>
        </p:nvSpPr>
        <p:spPr>
          <a:xfrm>
            <a:off x="3450336" y="853440"/>
            <a:ext cx="1499616" cy="43718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C0BF3-1F8A-C863-1AE0-6B0EFEC252AF}"/>
              </a:ext>
            </a:extLst>
          </p:cNvPr>
          <p:cNvSpPr txBox="1"/>
          <p:nvPr/>
        </p:nvSpPr>
        <p:spPr>
          <a:xfrm>
            <a:off x="4949952" y="896747"/>
            <a:ext cx="1499616" cy="43718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2F437-37AB-30C1-E450-F372C6EB8F46}"/>
              </a:ext>
            </a:extLst>
          </p:cNvPr>
          <p:cNvSpPr txBox="1"/>
          <p:nvPr/>
        </p:nvSpPr>
        <p:spPr>
          <a:xfrm>
            <a:off x="6447135" y="922979"/>
            <a:ext cx="1694417" cy="43718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8BB243-46CC-4192-A2ED-E0086A408A6B}"/>
              </a:ext>
            </a:extLst>
          </p:cNvPr>
          <p:cNvSpPr txBox="1"/>
          <p:nvPr/>
        </p:nvSpPr>
        <p:spPr>
          <a:xfrm>
            <a:off x="8141552" y="950976"/>
            <a:ext cx="1694417" cy="43718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15">
            <a:extLst>
              <a:ext uri="{FF2B5EF4-FFF2-40B4-BE49-F238E27FC236}">
                <a16:creationId xmlns:a16="http://schemas.microsoft.com/office/drawing/2014/main" id="{58569DE9-BE75-7476-58FE-A4D98068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5922" y="5034379"/>
            <a:ext cx="2743200" cy="365125"/>
          </a:xfrm>
        </p:spPr>
        <p:txBody>
          <a:bodyPr/>
          <a:lstStyle/>
          <a:p>
            <a:fld id="{5AF31890-163A-0243-A435-6DFC7960F33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60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7FE0FC-AC57-18CB-1DF3-B7418B771EC2}"/>
              </a:ext>
            </a:extLst>
          </p:cNvPr>
          <p:cNvSpPr txBox="1"/>
          <p:nvPr/>
        </p:nvSpPr>
        <p:spPr>
          <a:xfrm>
            <a:off x="0" y="-351"/>
            <a:ext cx="1008062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(6) Example of a Pull Request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14D5E5-2BCD-26CF-5262-D74585C7BD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255776" y="620278"/>
            <a:ext cx="7795274" cy="496492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A9A79E29-DEFE-8613-D6F1-82B2223E9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5922" y="5034379"/>
            <a:ext cx="2743200" cy="365125"/>
          </a:xfrm>
        </p:spPr>
        <p:txBody>
          <a:bodyPr/>
          <a:lstStyle/>
          <a:p>
            <a:fld id="{5AF31890-163A-0243-A435-6DFC7960F33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899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A6348-EB51-B24C-C98D-6AAD0141A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997787-D31B-403F-7568-78E879A69983}"/>
              </a:ext>
            </a:extLst>
          </p:cNvPr>
          <p:cNvSpPr txBox="1"/>
          <p:nvPr/>
        </p:nvSpPr>
        <p:spPr>
          <a:xfrm>
            <a:off x="0" y="-351"/>
            <a:ext cx="1008062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(3-5) Example of Pushing Changes </a:t>
            </a:r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4959B216-5619-9D12-3CD9-96C48D942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5922" y="5034379"/>
            <a:ext cx="2743200" cy="365125"/>
          </a:xfrm>
        </p:spPr>
        <p:txBody>
          <a:bodyPr/>
          <a:lstStyle/>
          <a:p>
            <a:fld id="{5AF31890-163A-0243-A435-6DFC7960F332}" type="slidenum">
              <a:rPr lang="en-US" smtClean="0"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CA17E6-535F-87E8-AD14-6B9787B10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238" y="591944"/>
            <a:ext cx="7407284" cy="49381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4EDA3D-E918-98F5-ADD8-03B7072070B1}"/>
              </a:ext>
            </a:extLst>
          </p:cNvPr>
          <p:cNvSpPr txBox="1"/>
          <p:nvPr/>
        </p:nvSpPr>
        <p:spPr>
          <a:xfrm>
            <a:off x="2988129" y="996043"/>
            <a:ext cx="1910442" cy="21553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A6C1F9-4219-1DC6-BD9A-D46121EEC06C}"/>
              </a:ext>
            </a:extLst>
          </p:cNvPr>
          <p:cNvSpPr txBox="1"/>
          <p:nvPr/>
        </p:nvSpPr>
        <p:spPr>
          <a:xfrm>
            <a:off x="4898570" y="996043"/>
            <a:ext cx="1779815" cy="21553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0B0460-81D6-C988-6F35-D90C61C0AFB0}"/>
              </a:ext>
            </a:extLst>
          </p:cNvPr>
          <p:cNvSpPr txBox="1"/>
          <p:nvPr/>
        </p:nvSpPr>
        <p:spPr>
          <a:xfrm>
            <a:off x="6677368" y="996042"/>
            <a:ext cx="1779815" cy="21553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EEEFFB-1937-3EEE-DF47-93D365B30993}"/>
              </a:ext>
            </a:extLst>
          </p:cNvPr>
          <p:cNvSpPr txBox="1"/>
          <p:nvPr/>
        </p:nvSpPr>
        <p:spPr>
          <a:xfrm>
            <a:off x="1050238" y="3260460"/>
            <a:ext cx="7406945" cy="21553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29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52590-63AB-CC44-8CF6-852932CB1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A44F25-378E-E6CC-3739-B19F5E17E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57" y="-352"/>
            <a:ext cx="8435987" cy="56239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388E4F-5D85-B659-FAD1-89728A9558BB}"/>
              </a:ext>
            </a:extLst>
          </p:cNvPr>
          <p:cNvSpPr txBox="1"/>
          <p:nvPr/>
        </p:nvSpPr>
        <p:spPr>
          <a:xfrm>
            <a:off x="1894114" y="216382"/>
            <a:ext cx="58456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668DF3E-FEB4-39A7-4EBE-6CED5ECE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5922" y="5034379"/>
            <a:ext cx="2743200" cy="365125"/>
          </a:xfrm>
        </p:spPr>
        <p:txBody>
          <a:bodyPr/>
          <a:lstStyle/>
          <a:p>
            <a:fld id="{5AF31890-163A-0243-A435-6DFC7960F332}" type="slidenum">
              <a:rPr lang="en-US" smtClean="0"/>
              <a:t>11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44BA4C-D69B-8B1D-51FE-79AF120ED1B8}"/>
              </a:ext>
            </a:extLst>
          </p:cNvPr>
          <p:cNvSpPr txBox="1"/>
          <p:nvPr/>
        </p:nvSpPr>
        <p:spPr>
          <a:xfrm>
            <a:off x="0" y="-351"/>
            <a:ext cx="1008062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(3) Upstream Main Updated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731005-6800-612E-478E-8A16BF8E9663}"/>
              </a:ext>
            </a:extLst>
          </p:cNvPr>
          <p:cNvSpPr txBox="1"/>
          <p:nvPr/>
        </p:nvSpPr>
        <p:spPr>
          <a:xfrm>
            <a:off x="2857499" y="585714"/>
            <a:ext cx="2041072" cy="2249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2042B3-D4C2-4608-A049-0316DBAEAEEB}"/>
              </a:ext>
            </a:extLst>
          </p:cNvPr>
          <p:cNvSpPr txBox="1"/>
          <p:nvPr/>
        </p:nvSpPr>
        <p:spPr>
          <a:xfrm>
            <a:off x="4898571" y="576814"/>
            <a:ext cx="2041072" cy="2249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F599AF-56DF-91E4-E39B-3736F074C976}"/>
              </a:ext>
            </a:extLst>
          </p:cNvPr>
          <p:cNvSpPr txBox="1"/>
          <p:nvPr/>
        </p:nvSpPr>
        <p:spPr>
          <a:xfrm>
            <a:off x="6928535" y="610944"/>
            <a:ext cx="2041072" cy="2249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EDF7C0-B0AC-E981-17BC-AFB809B47038}"/>
              </a:ext>
            </a:extLst>
          </p:cNvPr>
          <p:cNvSpPr txBox="1"/>
          <p:nvPr/>
        </p:nvSpPr>
        <p:spPr>
          <a:xfrm>
            <a:off x="636137" y="2951051"/>
            <a:ext cx="2041072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7DF48E-93F2-8D75-06FB-E4C9640B2EE9}"/>
              </a:ext>
            </a:extLst>
          </p:cNvPr>
          <p:cNvSpPr txBox="1"/>
          <p:nvPr/>
        </p:nvSpPr>
        <p:spPr>
          <a:xfrm>
            <a:off x="2677208" y="2961721"/>
            <a:ext cx="2237691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7A80A1-3A9F-1198-AAAC-E9B65D9CB87F}"/>
              </a:ext>
            </a:extLst>
          </p:cNvPr>
          <p:cNvSpPr txBox="1"/>
          <p:nvPr/>
        </p:nvSpPr>
        <p:spPr>
          <a:xfrm>
            <a:off x="4848232" y="2910947"/>
            <a:ext cx="4223892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6A8198-B910-531B-38E1-E303BF5BFBBA}"/>
              </a:ext>
            </a:extLst>
          </p:cNvPr>
          <p:cNvSpPr txBox="1"/>
          <p:nvPr/>
        </p:nvSpPr>
        <p:spPr>
          <a:xfrm>
            <a:off x="624340" y="4522341"/>
            <a:ext cx="8447784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09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5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30DD-4D01-5040-169C-1B404E89D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FC029B-8B89-E923-740D-C0AAB8D680B8}"/>
              </a:ext>
            </a:extLst>
          </p:cNvPr>
          <p:cNvSpPr txBox="1"/>
          <p:nvPr/>
        </p:nvSpPr>
        <p:spPr>
          <a:xfrm>
            <a:off x="-61779" y="786851"/>
            <a:ext cx="2320279" cy="3110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930" b="1" dirty="0">
              <a:latin typeface="Arial"/>
              <a:cs typeface="Arial"/>
            </a:endParaRPr>
          </a:p>
          <a:p>
            <a:pPr algn="ctr"/>
            <a:r>
              <a:rPr lang="en-US" sz="1488" b="1" dirty="0">
                <a:latin typeface="Arial"/>
                <a:cs typeface="Arial"/>
              </a:rPr>
              <a:t>Group Members</a:t>
            </a:r>
          </a:p>
          <a:p>
            <a:pPr algn="ctr"/>
            <a:endParaRPr lang="en-US" sz="1323" dirty="0">
              <a:latin typeface="Arial"/>
              <a:cs typeface="Arial"/>
            </a:endParaRPr>
          </a:p>
          <a:p>
            <a:pPr algn="ctr"/>
            <a:r>
              <a:rPr lang="en-US" sz="1323" dirty="0">
                <a:latin typeface="Arial"/>
                <a:cs typeface="Arial"/>
              </a:rPr>
              <a:t>Dr. Upeksha Dissanayake</a:t>
            </a:r>
          </a:p>
          <a:p>
            <a:pPr algn="ctr"/>
            <a:r>
              <a:rPr lang="en-US" sz="1323" dirty="0" err="1">
                <a:latin typeface="Arial"/>
                <a:cs typeface="Arial"/>
              </a:rPr>
              <a:t>Sarthi</a:t>
            </a:r>
            <a:r>
              <a:rPr lang="en-US" sz="1323" dirty="0">
                <a:latin typeface="Arial"/>
                <a:cs typeface="Arial"/>
              </a:rPr>
              <a:t> Polara</a:t>
            </a:r>
          </a:p>
          <a:p>
            <a:pPr algn="ctr"/>
            <a:r>
              <a:rPr lang="en-US" sz="1323" dirty="0" err="1">
                <a:latin typeface="Arial"/>
                <a:cs typeface="Arial"/>
              </a:rPr>
              <a:t>Abeda</a:t>
            </a:r>
            <a:r>
              <a:rPr lang="en-US" sz="1323" dirty="0">
                <a:latin typeface="Arial"/>
                <a:cs typeface="Arial"/>
              </a:rPr>
              <a:t> </a:t>
            </a:r>
            <a:r>
              <a:rPr lang="en-US" sz="1323" dirty="0" err="1">
                <a:latin typeface="Arial"/>
                <a:cs typeface="Arial"/>
              </a:rPr>
              <a:t>Shamma</a:t>
            </a:r>
            <a:r>
              <a:rPr lang="en-US" sz="1323" dirty="0">
                <a:latin typeface="Arial"/>
                <a:cs typeface="Arial"/>
              </a:rPr>
              <a:t> </a:t>
            </a:r>
          </a:p>
          <a:p>
            <a:pPr algn="ctr"/>
            <a:r>
              <a:rPr lang="en-US" sz="1323" dirty="0">
                <a:latin typeface="Arial"/>
                <a:cs typeface="Arial"/>
              </a:rPr>
              <a:t>Mozhdeh Ghafari</a:t>
            </a:r>
          </a:p>
          <a:p>
            <a:pPr algn="ctr"/>
            <a:r>
              <a:rPr lang="en-US" sz="1323" dirty="0">
                <a:latin typeface="Arial"/>
                <a:cs typeface="Arial"/>
              </a:rPr>
              <a:t>Daniel Pearson</a:t>
            </a:r>
          </a:p>
          <a:p>
            <a:pPr algn="ctr"/>
            <a:r>
              <a:rPr lang="en-US" sz="1323" dirty="0">
                <a:latin typeface="Arial"/>
                <a:cs typeface="Arial"/>
              </a:rPr>
              <a:t>Archita </a:t>
            </a:r>
            <a:r>
              <a:rPr lang="en-US" sz="1323" dirty="0" err="1">
                <a:latin typeface="Arial"/>
                <a:cs typeface="Arial"/>
              </a:rPr>
              <a:t>Cunappakam</a:t>
            </a:r>
            <a:endParaRPr lang="en-US" sz="1323" dirty="0">
              <a:latin typeface="Arial"/>
              <a:cs typeface="Arial"/>
            </a:endParaRPr>
          </a:p>
          <a:p>
            <a:pPr algn="ctr"/>
            <a:r>
              <a:rPr lang="en-US" sz="1323" dirty="0">
                <a:latin typeface="Arial"/>
                <a:cs typeface="Arial"/>
              </a:rPr>
              <a:t>Shardul Parthasarathy</a:t>
            </a:r>
          </a:p>
          <a:p>
            <a:pPr algn="ctr"/>
            <a:r>
              <a:rPr lang="en-US" sz="1320" dirty="0">
                <a:latin typeface="Arial" panose="020B0604020202020204" pitchFamily="34" charset="0"/>
                <a:cs typeface="Arial" panose="020B0604020202020204" pitchFamily="34" charset="0"/>
              </a:rPr>
              <a:t>Tatiana </a:t>
            </a:r>
            <a:r>
              <a:rPr lang="en-US" sz="1320" dirty="0" err="1">
                <a:latin typeface="Arial" panose="020B0604020202020204" pitchFamily="34" charset="0"/>
                <a:cs typeface="Arial" panose="020B0604020202020204" pitchFamily="34" charset="0"/>
              </a:rPr>
              <a:t>Materova</a:t>
            </a:r>
            <a:endParaRPr lang="en-US" sz="13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23" dirty="0" err="1">
                <a:latin typeface="Arial"/>
                <a:cs typeface="Arial"/>
              </a:rPr>
              <a:t>Feruzbek</a:t>
            </a:r>
            <a:r>
              <a:rPr lang="en-US" sz="1323" dirty="0">
                <a:latin typeface="Arial"/>
                <a:cs typeface="Arial"/>
              </a:rPr>
              <a:t> Khasanov</a:t>
            </a:r>
          </a:p>
          <a:p>
            <a:pPr algn="ctr"/>
            <a:r>
              <a:rPr lang="en-US" sz="1323" dirty="0">
                <a:latin typeface="Arial"/>
                <a:cs typeface="Arial"/>
              </a:rPr>
              <a:t>Rawan Lilo</a:t>
            </a:r>
          </a:p>
          <a:p>
            <a:pPr algn="ctr"/>
            <a:r>
              <a:rPr lang="en-US" sz="1323" dirty="0">
                <a:latin typeface="Arial"/>
                <a:cs typeface="Arial"/>
              </a:rPr>
              <a:t>Regina Merino</a:t>
            </a:r>
          </a:p>
          <a:p>
            <a:pPr algn="ctr"/>
            <a:r>
              <a:rPr lang="en-US" sz="1323" dirty="0">
                <a:latin typeface="Arial"/>
                <a:cs typeface="Arial"/>
              </a:rPr>
              <a:t>Emma Hiros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8DBDA-9891-427D-FC32-1F0166DD5467}"/>
              </a:ext>
            </a:extLst>
          </p:cNvPr>
          <p:cNvSpPr txBox="1"/>
          <p:nvPr/>
        </p:nvSpPr>
        <p:spPr>
          <a:xfrm>
            <a:off x="1794214" y="4709592"/>
            <a:ext cx="728888" cy="388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0" b="1" dirty="0">
                <a:latin typeface="Arial"/>
                <a:cs typeface="Arial"/>
              </a:rPr>
              <a:t>Funding</a:t>
            </a:r>
            <a:r>
              <a:rPr lang="en-US" sz="992" dirty="0">
                <a:latin typeface="Arial"/>
                <a:cs typeface="Arial"/>
              </a:rPr>
              <a:t>	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3949B6-DE76-A989-33B5-CE0C375B4463}"/>
              </a:ext>
            </a:extLst>
          </p:cNvPr>
          <p:cNvSpPr txBox="1"/>
          <p:nvPr/>
        </p:nvSpPr>
        <p:spPr>
          <a:xfrm>
            <a:off x="230783" y="3870222"/>
            <a:ext cx="3508664" cy="989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68" b="1" i="1" dirty="0">
                <a:latin typeface="Arial"/>
                <a:cs typeface="Arial"/>
              </a:rPr>
              <a:t>	</a:t>
            </a:r>
            <a:r>
              <a:rPr lang="en-US" sz="992" b="1" i="1" dirty="0">
                <a:latin typeface="Arial"/>
                <a:cs typeface="Arial"/>
              </a:rPr>
              <a:t>		</a:t>
            </a:r>
            <a:endParaRPr lang="en-US" sz="992" b="1" dirty="0">
              <a:latin typeface="Arial"/>
              <a:cs typeface="Arial"/>
            </a:endParaRPr>
          </a:p>
          <a:p>
            <a:r>
              <a:rPr lang="en-US" sz="992" dirty="0">
                <a:latin typeface="Arial"/>
                <a:cs typeface="Arial"/>
              </a:rPr>
              <a:t>Michael </a:t>
            </a:r>
            <a:r>
              <a:rPr lang="en-US" sz="992" dirty="0" err="1">
                <a:latin typeface="Arial"/>
                <a:cs typeface="Arial"/>
              </a:rPr>
              <a:t>Kolodrubetz</a:t>
            </a:r>
            <a:r>
              <a:rPr lang="en-US" sz="992" dirty="0">
                <a:latin typeface="Arial"/>
                <a:cs typeface="Arial"/>
              </a:rPr>
              <a:t> (UTD)</a:t>
            </a:r>
          </a:p>
          <a:p>
            <a:r>
              <a:rPr lang="en-US" sz="992" b="1" dirty="0">
                <a:latin typeface="Arial"/>
                <a:cs typeface="Arial"/>
              </a:rPr>
              <a:t>Jean-Philip Piquemal (Sorbonne U.)</a:t>
            </a:r>
          </a:p>
          <a:p>
            <a:r>
              <a:rPr lang="en-US" sz="992" dirty="0">
                <a:latin typeface="Arial"/>
                <a:cs typeface="Arial"/>
              </a:rPr>
              <a:t>Ronald Smaldone (UTD)</a:t>
            </a:r>
          </a:p>
          <a:p>
            <a:r>
              <a:rPr lang="en-US" sz="992" dirty="0">
                <a:latin typeface="Arial"/>
                <a:cs typeface="Arial"/>
              </a:rPr>
              <a:t>Rahul Kohli (U. Penn)</a:t>
            </a:r>
          </a:p>
          <a:p>
            <a:endParaRPr lang="en-US" sz="868" dirty="0"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468734-BF8F-7405-8FC0-0CCBD2DA24A1}"/>
              </a:ext>
            </a:extLst>
          </p:cNvPr>
          <p:cNvSpPr txBox="1"/>
          <p:nvPr/>
        </p:nvSpPr>
        <p:spPr>
          <a:xfrm>
            <a:off x="2459348" y="3642195"/>
            <a:ext cx="3448340" cy="10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44" b="1" i="1" dirty="0">
                <a:latin typeface="Arial"/>
                <a:cs typeface="Arial"/>
              </a:rPr>
              <a:t> 			                   		</a:t>
            </a:r>
          </a:p>
          <a:p>
            <a:r>
              <a:rPr lang="en-US" sz="744" b="1" i="1" dirty="0">
                <a:latin typeface="Arial"/>
                <a:cs typeface="Arial"/>
              </a:rPr>
              <a:t>	                                      </a:t>
            </a:r>
            <a:r>
              <a:rPr lang="en-US" sz="992" b="1" dirty="0">
                <a:latin typeface="Arial"/>
                <a:cs typeface="Arial"/>
              </a:rPr>
              <a:t>Collaborators</a:t>
            </a:r>
            <a:endParaRPr lang="en-US" sz="992" dirty="0">
              <a:latin typeface="Arial"/>
              <a:cs typeface="Arial"/>
            </a:endParaRPr>
          </a:p>
          <a:p>
            <a:r>
              <a:rPr lang="en-US" sz="992" dirty="0" err="1">
                <a:latin typeface="Arial"/>
                <a:cs typeface="Arial"/>
              </a:rPr>
              <a:t>Pengyu</a:t>
            </a:r>
            <a:r>
              <a:rPr lang="en-US" sz="992" dirty="0">
                <a:latin typeface="Arial"/>
                <a:cs typeface="Arial"/>
              </a:rPr>
              <a:t> Ren (UT-Austin)</a:t>
            </a:r>
          </a:p>
          <a:p>
            <a:r>
              <a:rPr lang="en-US" sz="992" dirty="0">
                <a:latin typeface="Arial"/>
                <a:cs typeface="Arial"/>
              </a:rPr>
              <a:t>Iannis Aifantis (NYU Med)</a:t>
            </a:r>
          </a:p>
          <a:p>
            <a:r>
              <a:rPr lang="en-US" sz="992" dirty="0">
                <a:latin typeface="Arial"/>
                <a:cs typeface="Arial"/>
              </a:rPr>
              <a:t>Faruck Morcos </a:t>
            </a:r>
            <a:r>
              <a:rPr lang="en-US" sz="992">
                <a:latin typeface="Arial"/>
                <a:cs typeface="Arial"/>
              </a:rPr>
              <a:t>(UTD)</a:t>
            </a:r>
            <a:endParaRPr lang="en-US" sz="992" dirty="0">
              <a:latin typeface="Arial"/>
              <a:cs typeface="Arial"/>
            </a:endParaRPr>
          </a:p>
          <a:p>
            <a:r>
              <a:rPr lang="en-US" sz="992" dirty="0">
                <a:latin typeface="Arial"/>
                <a:cs typeface="Arial"/>
              </a:rPr>
              <a:t>Tom Darden (OpenEye)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1A3D57-FB44-AE78-5C47-79C14930E34F}"/>
              </a:ext>
            </a:extLst>
          </p:cNvPr>
          <p:cNvSpPr txBox="1"/>
          <p:nvPr/>
        </p:nvSpPr>
        <p:spPr>
          <a:xfrm>
            <a:off x="8442264" y="4042423"/>
            <a:ext cx="1911391" cy="836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2" dirty="0">
                <a:latin typeface="Arial"/>
                <a:cs typeface="Arial"/>
              </a:rPr>
              <a:t>Stas Groysman (WSU)</a:t>
            </a:r>
          </a:p>
          <a:p>
            <a:r>
              <a:rPr lang="en-US" sz="992" dirty="0">
                <a:latin typeface="Arial"/>
                <a:cs typeface="Arial"/>
              </a:rPr>
              <a:t>Berny Schlegel (WSU)</a:t>
            </a:r>
          </a:p>
          <a:p>
            <a:r>
              <a:rPr lang="en-US" sz="992" dirty="0">
                <a:latin typeface="Arial"/>
                <a:cs typeface="Arial"/>
              </a:rPr>
              <a:t>Judy Wu (U. Houston)</a:t>
            </a:r>
          </a:p>
          <a:p>
            <a:r>
              <a:rPr lang="en-US" sz="992" dirty="0">
                <a:latin typeface="Arial"/>
                <a:cs typeface="Arial"/>
              </a:rPr>
              <a:t>Francesco Paesani (UCSD)</a:t>
            </a:r>
          </a:p>
          <a:p>
            <a:endParaRPr lang="en-US" sz="868" dirty="0">
              <a:latin typeface="Arial"/>
              <a:cs typeface="Arial"/>
            </a:endParaRPr>
          </a:p>
        </p:txBody>
      </p:sp>
      <p:pic>
        <p:nvPicPr>
          <p:cNvPr id="2" name="Picture 1" descr="nih.jpg">
            <a:extLst>
              <a:ext uri="{FF2B5EF4-FFF2-40B4-BE49-F238E27FC236}">
                <a16:creationId xmlns:a16="http://schemas.microsoft.com/office/drawing/2014/main" id="{C1204D5F-E050-DF04-216F-057D29B6F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68" y="4926979"/>
            <a:ext cx="456809" cy="403291"/>
          </a:xfrm>
          <a:prstGeom prst="rect">
            <a:avLst/>
          </a:prstGeom>
        </p:spPr>
      </p:pic>
      <p:pic>
        <p:nvPicPr>
          <p:cNvPr id="5" name="Picture 4" descr="nigms2.jpg">
            <a:extLst>
              <a:ext uri="{FF2B5EF4-FFF2-40B4-BE49-F238E27FC236}">
                <a16:creationId xmlns:a16="http://schemas.microsoft.com/office/drawing/2014/main" id="{D35498C0-2378-3F31-2612-3A90CB7F94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07" y="4913847"/>
            <a:ext cx="599020" cy="399346"/>
          </a:xfrm>
          <a:prstGeom prst="rect">
            <a:avLst/>
          </a:prstGeom>
        </p:spPr>
      </p:pic>
      <p:pic>
        <p:nvPicPr>
          <p:cNvPr id="13" name="Picture 12" descr="nvidia.png">
            <a:extLst>
              <a:ext uri="{FF2B5EF4-FFF2-40B4-BE49-F238E27FC236}">
                <a16:creationId xmlns:a16="http://schemas.microsoft.com/office/drawing/2014/main" id="{77D6519B-E869-A04E-B072-1494C69F314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68" b="29497"/>
          <a:stretch/>
        </p:blipFill>
        <p:spPr>
          <a:xfrm>
            <a:off x="2545466" y="4913660"/>
            <a:ext cx="1011055" cy="2583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97A15A4-128E-A6E0-C035-791F62AE3C6F}"/>
              </a:ext>
            </a:extLst>
          </p:cNvPr>
          <p:cNvSpPr txBox="1"/>
          <p:nvPr/>
        </p:nvSpPr>
        <p:spPr>
          <a:xfrm>
            <a:off x="7104159" y="287477"/>
            <a:ext cx="3304380" cy="3950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8" b="1" dirty="0">
                <a:latin typeface="Arial"/>
                <a:cs typeface="Arial"/>
              </a:rPr>
              <a:t>Alumni</a:t>
            </a:r>
            <a:r>
              <a:rPr lang="en-US" sz="1323" b="1" dirty="0">
                <a:latin typeface="Arial"/>
                <a:cs typeface="Arial"/>
              </a:rPr>
              <a:t> </a:t>
            </a:r>
          </a:p>
          <a:p>
            <a:pPr algn="ctr"/>
            <a:r>
              <a:rPr lang="en-US" sz="992" b="1" i="1" dirty="0">
                <a:cs typeface="Arial"/>
              </a:rPr>
              <a:t>Dr. Jessica </a:t>
            </a:r>
            <a:r>
              <a:rPr lang="en-US" sz="992" b="1" i="1" dirty="0" err="1">
                <a:cs typeface="Arial"/>
              </a:rPr>
              <a:t>Arcudia</a:t>
            </a:r>
            <a:r>
              <a:rPr lang="en-US" sz="992" b="1" i="1" dirty="0">
                <a:cs typeface="Arial"/>
              </a:rPr>
              <a:t> Muñoz (CINVESTAV)</a:t>
            </a:r>
          </a:p>
          <a:p>
            <a:pPr algn="ctr"/>
            <a:r>
              <a:rPr lang="en-US" sz="992" b="1" i="1" dirty="0">
                <a:cs typeface="Arial"/>
              </a:rPr>
              <a:t>Dr. </a:t>
            </a:r>
            <a:r>
              <a:rPr lang="en-US" sz="992" b="1" i="1" dirty="0" err="1">
                <a:cs typeface="Arial"/>
              </a:rPr>
              <a:t>Arkanil</a:t>
            </a:r>
            <a:r>
              <a:rPr lang="en-US" sz="992" b="1" i="1" dirty="0">
                <a:cs typeface="Arial"/>
              </a:rPr>
              <a:t> Roy (LSU)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Shubham Chatterjee (UMass Amherst)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Yazdan </a:t>
            </a:r>
            <a:r>
              <a:rPr lang="en-US" sz="992" i="1" dirty="0" err="1">
                <a:latin typeface="Arial"/>
                <a:cs typeface="Arial"/>
              </a:rPr>
              <a:t>Maghsoud</a:t>
            </a:r>
            <a:r>
              <a:rPr lang="en-US" sz="992" i="1" dirty="0">
                <a:latin typeface="Arial"/>
                <a:cs typeface="Arial"/>
              </a:rPr>
              <a:t> (</a:t>
            </a:r>
            <a:r>
              <a:rPr lang="en-US" sz="992" i="1" dirty="0" err="1">
                <a:latin typeface="Arial"/>
                <a:cs typeface="Arial"/>
              </a:rPr>
              <a:t>GATech</a:t>
            </a:r>
            <a:r>
              <a:rPr lang="en-US" sz="992" i="1" dirty="0">
                <a:latin typeface="Arial"/>
                <a:cs typeface="Arial"/>
              </a:rPr>
              <a:t>)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J. Enrique Vázquez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Madison Berger (USFDA)</a:t>
            </a:r>
            <a:endParaRPr lang="en-US" sz="992" b="1" i="1" dirty="0">
              <a:latin typeface="Arial"/>
              <a:cs typeface="Arial"/>
            </a:endParaRPr>
          </a:p>
          <a:p>
            <a:pPr algn="ctr"/>
            <a:r>
              <a:rPr lang="en-US" sz="992" i="1" dirty="0">
                <a:latin typeface="Arial"/>
                <a:cs typeface="Arial"/>
              </a:rPr>
              <a:t>Dr. Emmett </a:t>
            </a:r>
            <a:r>
              <a:rPr lang="en-US" sz="992" i="1" dirty="0" err="1">
                <a:latin typeface="Arial"/>
                <a:cs typeface="Arial"/>
              </a:rPr>
              <a:t>Leddin</a:t>
            </a:r>
            <a:r>
              <a:rPr lang="en-US" sz="992" i="1" dirty="0">
                <a:latin typeface="Arial"/>
                <a:cs typeface="Arial"/>
              </a:rPr>
              <a:t> (MSU-</a:t>
            </a:r>
            <a:r>
              <a:rPr lang="en-US" sz="992" i="1" dirty="0" err="1">
                <a:latin typeface="Arial"/>
                <a:cs typeface="Arial"/>
              </a:rPr>
              <a:t>SoM</a:t>
            </a:r>
            <a:r>
              <a:rPr lang="en-US" sz="992" i="1" dirty="0">
                <a:latin typeface="Arial"/>
                <a:cs typeface="Arial"/>
              </a:rPr>
              <a:t>)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Erik A. Vázquez Montelongo (U. Celaya.)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Mark A. Hix  (Wayne State U.)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Alice Walker (Wayne State U.) 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Pavel Silvestrov     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Hedieh Torabifard (UT-Dallas)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Yi-Jung Tu (Natl. Chi Nan U.)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Sajeewa Dewage (Wayamba U.)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Dong Fang (Xtalpi)   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Rebecca Swett (Relay </a:t>
            </a:r>
            <a:r>
              <a:rPr lang="en-US" sz="992" i="1" dirty="0" err="1">
                <a:latin typeface="Arial"/>
                <a:cs typeface="Arial"/>
              </a:rPr>
              <a:t>ThX</a:t>
            </a:r>
            <a:r>
              <a:rPr lang="en-US" sz="992" i="1" dirty="0">
                <a:latin typeface="Arial"/>
                <a:cs typeface="Arial"/>
              </a:rPr>
              <a:t>)</a:t>
            </a:r>
          </a:p>
          <a:p>
            <a:pPr algn="ctr"/>
            <a:r>
              <a:rPr lang="en-US" sz="992" b="1" i="1" dirty="0">
                <a:latin typeface="Arial"/>
                <a:cs typeface="Arial"/>
              </a:rPr>
              <a:t>Dr. Jorge A. </a:t>
            </a:r>
            <a:r>
              <a:rPr lang="en-US" sz="992" b="1" i="1" dirty="0" err="1">
                <a:latin typeface="Arial"/>
                <a:cs typeface="Arial"/>
              </a:rPr>
              <a:t>Nochebuena</a:t>
            </a:r>
            <a:r>
              <a:rPr lang="en-US" sz="992" b="1" i="1" dirty="0">
                <a:latin typeface="Arial"/>
                <a:cs typeface="Arial"/>
              </a:rPr>
              <a:t> (Augusta U.)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Tanay Debnath (Queen’s U.)</a:t>
            </a:r>
          </a:p>
          <a:p>
            <a:pPr algn="ctr"/>
            <a:r>
              <a:rPr lang="en-US" sz="992" b="1" i="1" dirty="0">
                <a:latin typeface="Arial"/>
                <a:cs typeface="Arial"/>
              </a:rPr>
              <a:t>Dr. Sehr Naseem-Khan  </a:t>
            </a:r>
          </a:p>
          <a:p>
            <a:pPr algn="ctr"/>
            <a:r>
              <a:rPr lang="en-US" sz="992" b="1" i="1" dirty="0">
                <a:latin typeface="Arial"/>
                <a:cs typeface="Arial"/>
              </a:rPr>
              <a:t>Dr. Hatice Gokcan (CMU)  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Eric Kratz (Continental)</a:t>
            </a:r>
            <a:r>
              <a:rPr lang="en-US" sz="992" dirty="0">
                <a:latin typeface="Arial"/>
                <a:cs typeface="Arial"/>
              </a:rPr>
              <a:t>  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Oleg Starovoytov (SLTU)</a:t>
            </a:r>
          </a:p>
          <a:p>
            <a:pPr algn="ctr"/>
            <a:r>
              <a:rPr lang="en-US" sz="992" i="1" dirty="0">
                <a:latin typeface="Arial"/>
                <a:cs typeface="Arial"/>
              </a:rPr>
              <a:t>Dr. Bob Duke </a:t>
            </a:r>
          </a:p>
          <a:p>
            <a:pPr algn="ctr"/>
            <a:endParaRPr lang="en-US" sz="930" i="1" dirty="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D5F479-32BE-EA05-36E7-56B0AFA78B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508" y="4886849"/>
            <a:ext cx="436268" cy="4434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584EB5A-64B7-ABCD-C752-812F9BBA3295}"/>
              </a:ext>
            </a:extLst>
          </p:cNvPr>
          <p:cNvSpPr txBox="1"/>
          <p:nvPr/>
        </p:nvSpPr>
        <p:spPr>
          <a:xfrm>
            <a:off x="107161" y="5297196"/>
            <a:ext cx="2928713" cy="28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20" dirty="0">
                <a:latin typeface="Arial"/>
                <a:cs typeface="Arial"/>
              </a:rPr>
              <a:t>R01GM108583; R01GM118501       CHE-1856162    HR00112330022</a:t>
            </a:r>
          </a:p>
          <a:p>
            <a:r>
              <a:rPr lang="en-US" sz="620" dirty="0">
                <a:latin typeface="Arial"/>
                <a:cs typeface="Arial"/>
              </a:rPr>
              <a:t>T32GM136501, R35GM151951       OAC-2117247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D597E059-68C3-36E0-BF76-2563156B3D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74" y="5000582"/>
            <a:ext cx="759387" cy="506258"/>
          </a:xfrm>
          <a:prstGeom prst="rect">
            <a:avLst/>
          </a:prstGeom>
        </p:spPr>
      </p:pic>
      <p:pic>
        <p:nvPicPr>
          <p:cNvPr id="19" name="Picture 18" descr="A picture containing animal, fish&#10;&#10;Description automatically generated">
            <a:extLst>
              <a:ext uri="{FF2B5EF4-FFF2-40B4-BE49-F238E27FC236}">
                <a16:creationId xmlns:a16="http://schemas.microsoft.com/office/drawing/2014/main" id="{18E97C76-3201-8989-BF5E-D86032CADC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4818" y="4989433"/>
            <a:ext cx="919513" cy="5174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C28B97-28F6-7747-BB98-2139A57DDFD4}"/>
              </a:ext>
            </a:extLst>
          </p:cNvPr>
          <p:cNvSpPr txBox="1"/>
          <p:nvPr/>
        </p:nvSpPr>
        <p:spPr>
          <a:xfrm>
            <a:off x="8052005" y="4797712"/>
            <a:ext cx="1418909" cy="235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0" b="1" dirty="0">
                <a:latin typeface="Arial"/>
                <a:cs typeface="Arial"/>
              </a:rPr>
              <a:t>Computing Time</a:t>
            </a:r>
          </a:p>
        </p:txBody>
      </p:sp>
      <p:pic>
        <p:nvPicPr>
          <p:cNvPr id="1026" name="Picture 2" descr="MolSSI – The Molecular Sciences Software Institute">
            <a:extLst>
              <a:ext uri="{FF2B5EF4-FFF2-40B4-BE49-F238E27FC236}">
                <a16:creationId xmlns:a16="http://schemas.microsoft.com/office/drawing/2014/main" id="{B0506290-B51D-66A9-288D-E68D76A3A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486" y="5143479"/>
            <a:ext cx="459012" cy="31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A9F5A52-A480-C329-9D14-C3DD121DCDE7}"/>
              </a:ext>
            </a:extLst>
          </p:cNvPr>
          <p:cNvSpPr txBox="1"/>
          <p:nvPr/>
        </p:nvSpPr>
        <p:spPr>
          <a:xfrm>
            <a:off x="4411319" y="4037420"/>
            <a:ext cx="2105062" cy="836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2" dirty="0">
                <a:latin typeface="Arial"/>
                <a:cs typeface="Arial"/>
              </a:rPr>
              <a:t>Edgar Flores (U. Guadalajara)</a:t>
            </a:r>
            <a:endParaRPr lang="en-US" sz="992" b="1" i="1" dirty="0">
              <a:latin typeface="Arial"/>
              <a:cs typeface="Arial"/>
            </a:endParaRPr>
          </a:p>
          <a:p>
            <a:r>
              <a:rPr lang="en-US" sz="992" dirty="0">
                <a:cs typeface="Arial"/>
              </a:rPr>
              <a:t>Vicent Moliner (UJI)</a:t>
            </a:r>
          </a:p>
          <a:p>
            <a:r>
              <a:rPr lang="en-US" sz="992" dirty="0">
                <a:latin typeface="Arial"/>
                <a:cs typeface="Arial"/>
              </a:rPr>
              <a:t>Liliana Quintanar (CINVESTAV)</a:t>
            </a:r>
          </a:p>
          <a:p>
            <a:r>
              <a:rPr lang="en-US" sz="992" dirty="0">
                <a:latin typeface="Arial"/>
                <a:cs typeface="Arial"/>
              </a:rPr>
              <a:t>Rudi Fasan (UTD)</a:t>
            </a:r>
          </a:p>
          <a:p>
            <a:endParaRPr lang="en-US" sz="868" dirty="0">
              <a:latin typeface="Arial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BE1AD5-9714-C6EA-A975-9195A8D770C1}"/>
              </a:ext>
            </a:extLst>
          </p:cNvPr>
          <p:cNvSpPr txBox="1"/>
          <p:nvPr/>
        </p:nvSpPr>
        <p:spPr>
          <a:xfrm>
            <a:off x="6461047" y="4036428"/>
            <a:ext cx="2105062" cy="836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2" dirty="0">
                <a:latin typeface="Arial"/>
                <a:cs typeface="Arial"/>
              </a:rPr>
              <a:t>Penny Beuning (Northeastern U.)</a:t>
            </a:r>
            <a:endParaRPr lang="en-US" sz="992" b="1" i="1" dirty="0">
              <a:latin typeface="Arial"/>
              <a:cs typeface="Arial"/>
            </a:endParaRPr>
          </a:p>
          <a:p>
            <a:r>
              <a:rPr lang="en-US" sz="992" dirty="0">
                <a:latin typeface="Arial"/>
                <a:cs typeface="Arial"/>
              </a:rPr>
              <a:t>Joaquín Barroso-Flores (UNAM)</a:t>
            </a:r>
          </a:p>
          <a:p>
            <a:r>
              <a:rPr lang="en-US" sz="992" dirty="0">
                <a:cs typeface="Arial"/>
              </a:rPr>
              <a:t>Linda </a:t>
            </a:r>
            <a:r>
              <a:rPr lang="en-US" sz="992" dirty="0" err="1">
                <a:cs typeface="Arial"/>
              </a:rPr>
              <a:t>Chelico</a:t>
            </a:r>
            <a:r>
              <a:rPr lang="en-US" sz="992" dirty="0">
                <a:cs typeface="Arial"/>
              </a:rPr>
              <a:t> (U. Saskatchewan)</a:t>
            </a:r>
          </a:p>
          <a:p>
            <a:r>
              <a:rPr lang="en-US" sz="992" dirty="0">
                <a:latin typeface="Arial"/>
                <a:cs typeface="Arial"/>
              </a:rPr>
              <a:t>Shubin Liu (UNC)</a:t>
            </a:r>
          </a:p>
          <a:p>
            <a:endParaRPr lang="en-US" sz="868" dirty="0">
              <a:latin typeface="Arial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5041DF-1FC9-8F9B-9145-8868AFF50AD5}"/>
              </a:ext>
            </a:extLst>
          </p:cNvPr>
          <p:cNvSpPr txBox="1"/>
          <p:nvPr/>
        </p:nvSpPr>
        <p:spPr>
          <a:xfrm>
            <a:off x="-187702" y="61256"/>
            <a:ext cx="3857042" cy="49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46" b="1" dirty="0">
                <a:solidFill>
                  <a:schemeClr val="bg2">
                    <a:lumMod val="25000"/>
                  </a:schemeClr>
                </a:solidFill>
                <a:latin typeface="Trebuchet MS" panose="020B0703020202090204" pitchFamily="34" charset="0"/>
                <a:cs typeface="Arial"/>
              </a:rPr>
              <a:t>Acknowledgements</a:t>
            </a:r>
          </a:p>
        </p:txBody>
      </p:sp>
      <p:pic>
        <p:nvPicPr>
          <p:cNvPr id="28" name="Picture 27" descr="Logo&#10;&#10;Description automatically generated">
            <a:extLst>
              <a:ext uri="{FF2B5EF4-FFF2-40B4-BE49-F238E27FC236}">
                <a16:creationId xmlns:a16="http://schemas.microsoft.com/office/drawing/2014/main" id="{1832DC2F-E91E-957A-12C1-A0D1C87C284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414" y="459005"/>
            <a:ext cx="1158885" cy="438846"/>
          </a:xfrm>
          <a:prstGeom prst="rect">
            <a:avLst/>
          </a:prstGeom>
        </p:spPr>
      </p:pic>
      <p:pic>
        <p:nvPicPr>
          <p:cNvPr id="4" name="Picture 2" descr="Imaging Practical Applications for a Quantum Tomorrow (IMPAQT) - CLOSED">
            <a:extLst>
              <a:ext uri="{FF2B5EF4-FFF2-40B4-BE49-F238E27FC236}">
                <a16:creationId xmlns:a16="http://schemas.microsoft.com/office/drawing/2014/main" id="{F0AC6E4F-7EDD-A9C7-98FF-FF44A64907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39" r="23829"/>
          <a:stretch/>
        </p:blipFill>
        <p:spPr bwMode="auto">
          <a:xfrm>
            <a:off x="2117095" y="4940384"/>
            <a:ext cx="397571" cy="390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preview">
            <a:extLst>
              <a:ext uri="{FF2B5EF4-FFF2-40B4-BE49-F238E27FC236}">
                <a16:creationId xmlns:a16="http://schemas.microsoft.com/office/drawing/2014/main" id="{19D652E9-CAAB-1DA2-2055-52F4420F86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52" r="24284" b="40173"/>
          <a:stretch>
            <a:fillRect/>
          </a:stretch>
        </p:blipFill>
        <p:spPr bwMode="auto">
          <a:xfrm>
            <a:off x="3562731" y="4940616"/>
            <a:ext cx="581367" cy="562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79C963C-70DB-526C-F46C-05E111C2BC8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11554" y="946362"/>
            <a:ext cx="5263722" cy="28251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6391E3-C60F-4996-13B8-8C31AF05089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33142" y="4971586"/>
            <a:ext cx="809256" cy="5402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A432B4-A2A8-988E-DA7A-3ADD354B6077}"/>
              </a:ext>
            </a:extLst>
          </p:cNvPr>
          <p:cNvSpPr txBox="1"/>
          <p:nvPr/>
        </p:nvSpPr>
        <p:spPr>
          <a:xfrm>
            <a:off x="2459348" y="809659"/>
            <a:ext cx="4406271" cy="983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788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04539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B26FE5-6559-4EA3-2CD2-FB971435BE6D}"/>
              </a:ext>
            </a:extLst>
          </p:cNvPr>
          <p:cNvSpPr txBox="1"/>
          <p:nvPr/>
        </p:nvSpPr>
        <p:spPr>
          <a:xfrm>
            <a:off x="466920" y="228600"/>
            <a:ext cx="2733480" cy="346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git checkout -b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mybranch</a:t>
            </a:r>
            <a:endParaRPr lang="en-US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200DF4-7B9E-8668-3C00-4AA1B459C03A}"/>
              </a:ext>
            </a:extLst>
          </p:cNvPr>
          <p:cNvSpPr txBox="1"/>
          <p:nvPr/>
        </p:nvSpPr>
        <p:spPr>
          <a:xfrm>
            <a:off x="619200" y="796319"/>
            <a:ext cx="3952800" cy="346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Switched to a new branch 'mybranch'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C4E80A-F0FC-9E0C-472F-BCCD6F1434D6}"/>
              </a:ext>
            </a:extLst>
          </p:cNvPr>
          <p:cNvSpPr txBox="1"/>
          <p:nvPr/>
        </p:nvSpPr>
        <p:spPr>
          <a:xfrm>
            <a:off x="457200" y="1482119"/>
            <a:ext cx="1183680" cy="346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git branch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659D3-7FA7-8226-8A31-16DC23328CC2}"/>
              </a:ext>
            </a:extLst>
          </p:cNvPr>
          <p:cNvSpPr txBox="1"/>
          <p:nvPr/>
        </p:nvSpPr>
        <p:spPr>
          <a:xfrm>
            <a:off x="685799" y="1972440"/>
            <a:ext cx="1335960" cy="602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  main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* mybranch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0A4176-EA9F-C477-478F-A1581C119E46}"/>
              </a:ext>
            </a:extLst>
          </p:cNvPr>
          <p:cNvSpPr txBox="1"/>
          <p:nvPr/>
        </p:nvSpPr>
        <p:spPr>
          <a:xfrm>
            <a:off x="457200" y="2854080"/>
            <a:ext cx="1983600" cy="115270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Their modification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dirty="0">
              <a:latin typeface="Liberation Sans" pitchFamily="18"/>
              <a:ea typeface="Noto Sans CJK SC" pitchFamily="2"/>
              <a:cs typeface="Noto Sans Devanagari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FE36D-F277-5C19-E77C-D753A6CB42FC}"/>
              </a:ext>
            </a:extLst>
          </p:cNvPr>
          <p:cNvSpPr txBox="1"/>
          <p:nvPr/>
        </p:nvSpPr>
        <p:spPr>
          <a:xfrm>
            <a:off x="733679" y="3429000"/>
            <a:ext cx="1095120" cy="346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git 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DFC24-7951-F7B7-FCE9-2A7CC3E68625}"/>
              </a:ext>
            </a:extLst>
          </p:cNvPr>
          <p:cNvSpPr txBox="1"/>
          <p:nvPr/>
        </p:nvSpPr>
        <p:spPr>
          <a:xfrm>
            <a:off x="685799" y="4114800"/>
            <a:ext cx="1095120" cy="346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git diff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9D3DE-2614-9467-0FA8-1F99D3288E49}"/>
              </a:ext>
            </a:extLst>
          </p:cNvPr>
          <p:cNvSpPr txBox="1"/>
          <p:nvPr/>
        </p:nvSpPr>
        <p:spPr>
          <a:xfrm>
            <a:off x="733679" y="4682520"/>
            <a:ext cx="866520" cy="346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git add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3A5ECF-BF03-F2E5-B990-B9E98A4C2FD5}"/>
              </a:ext>
            </a:extLst>
          </p:cNvPr>
          <p:cNvSpPr txBox="1"/>
          <p:nvPr/>
        </p:nvSpPr>
        <p:spPr>
          <a:xfrm>
            <a:off x="6172200" y="339120"/>
            <a:ext cx="1614960" cy="346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git commit -m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1299D4-88AA-4869-862D-69B627AC57AB}"/>
              </a:ext>
            </a:extLst>
          </p:cNvPr>
          <p:cNvSpPr txBox="1"/>
          <p:nvPr/>
        </p:nvSpPr>
        <p:spPr>
          <a:xfrm>
            <a:off x="5840280" y="1096560"/>
            <a:ext cx="2617920" cy="602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git push origin mybranch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09D31C-C7A1-4DEE-F0DF-E8970E292D3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279119" y="2057400"/>
            <a:ext cx="1950480" cy="3397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4779E2-7216-DBA4-7E7E-E808C2269A7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11640" y="13680"/>
            <a:ext cx="890172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B581ED-A886-D0B6-F0BB-76C044C06D68}"/>
              </a:ext>
            </a:extLst>
          </p:cNvPr>
          <p:cNvSpPr txBox="1"/>
          <p:nvPr/>
        </p:nvSpPr>
        <p:spPr>
          <a:xfrm>
            <a:off x="457200" y="540360"/>
            <a:ext cx="5293800" cy="602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dirty="0">
              <a:latin typeface="Liberation Sans" pitchFamily="18"/>
              <a:ea typeface="Noto Sans CJK SC" pitchFamily="2"/>
              <a:cs typeface="Noto Sans Devanagari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conda</a:t>
            </a: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 activate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git_tutorial</a:t>
            </a:r>
            <a:endParaRPr lang="en-US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conda</a:t>
            </a: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 env export --from-history &gt;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environment.yml</a:t>
            </a:r>
            <a:endParaRPr lang="en-US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87870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</TotalTime>
  <Words>529</Words>
  <Application>Microsoft Macintosh PowerPoint</Application>
  <PresentationFormat>Custom</PresentationFormat>
  <Paragraphs>204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Liberation Sans</vt:lpstr>
      <vt:lpstr>Liberation Serif</vt:lpstr>
      <vt:lpstr>Trebuchet MS</vt:lpstr>
      <vt:lpstr>Default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Madriaga, Jose Marc</cp:lastModifiedBy>
  <cp:revision>11</cp:revision>
  <dcterms:created xsi:type="dcterms:W3CDTF">2026-10-10T10:20:19Z</dcterms:created>
  <dcterms:modified xsi:type="dcterms:W3CDTF">2026-10-12T17:21:10Z</dcterms:modified>
</cp:coreProperties>
</file>